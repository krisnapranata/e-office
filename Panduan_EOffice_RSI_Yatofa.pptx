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ngantar" id="{1cb51cf5-b8f4-d9ed-8732-c8089040a8e8}">
          <p14:sldIdLst>
            <p14:sldId id="256"/>
            <p14:sldId id="257"/>
          </p14:sldIdLst>
        </p14:section>
        <p14:section name="Cara kerja" id="{438708c6-123e-a08c-dc54-45a6c6957993}">
          <p14:sldIdLst>
            <p14:sldId id="258"/>
            <p14:sldId id="259"/>
            <p14:sldId id="260"/>
            <p14:sldId id="261"/>
            <p14:sldId id="262"/>
          </p14:sldIdLst>
        </p14:section>
        <p14:section name="Fitur utama" id="{cd2735e3-b124-0f49-3f81-105300d7c37d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Rute belajar dan demo" id="{b0a2f6f3-fa2c-7d26-03e1-71716dd2b750}">
          <p14:sldIdLst>
            <p14:sldId id="272"/>
            <p14:sldId id="273"/>
            <p14:sldId id="274"/>
            <p14:sldId id="275"/>
            <p14:sldId id="276"/>
          </p14:sldIdLst>
        </p14:section>
        <p14:section name="Penutup" id="{2f08db46-41da-6311-4466-d87a937fe186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Pembuka. E-Office memastikan setiap perintah Direktur tercatat, punya penanggung jawab dan tenggat, dikerjakan dengan bukti, diperiksa, lalu terlihat di satu dashboard. Gambar di kanan adalah Beranda Direktur dengan data contoh: keputusan yang menunggu tampil paling atas.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masalah klasik kantor Direktur dan jawabannya di E-Office. Tekankan: tidak ada lagi perintah tanpa penanggung jawab, dan tidak ada lagi 'sudah' tanpa bukti.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Inti cara kerja. Apa pun pintunya — surat, instruksi, rapat, atau perintah atasan — semuanya menjadi tugas yang sama. Tugas baru selesai setelah pemeriksa menyetujui hasil dan buktinya. Selama berjalan, sistem mengingatkan dan mengeskalasi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Delapan status ini muncul di daftar tugas dan dashboard. Dua hal yang sering membingungkan: Terlambat adalah penanda, bukan status; dan progres 100% belum berarti selesai sampai diverifikasi.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 belas modul sesuai rancangan E-Office Direktur RS. Semuanya bermuara ke satu mesin tugas, sehingga Direktur cukup melihat satu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Hak akses diperiksa di server, bukan sekadar menyembunyikan tombol. Dokumen Rahasia hanya terlihat oleh pihak terlibat dan Direktur — auditor pun tidak.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Tugas tidak hanya dari Direktur. Wakil Direktur dan Kepala Unit juga membagi pekerjaan ke bawahannya; Direktur boleh langsung menugaskan tingkat mana pun. Pemeriksa selalu pemberi tugas: tugas dari Kepala IGD diperiksa Kepala IGD, tetapi Direktur tetap bisa memantau, meminta kabar, dan memberi arahan. Rincian lengkap ada di menu Panduan, bagian Alur tugas.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Struktur RSI Yatofa sudah dimasukkan: 50 unit. Garis komando dipakai sistem untuk hak akses atasan dan tujuan eskalasi; komite dan SPI ditandai sebagai hubungan non-struktural sesuai bagan.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di gambar: unit Instalasi Farmasi dipilih dari pohon, jabatan otomatis 'Staf Instalasi Farmasi', dan atasan langsung otomatis kepala farmasi. Pegawai keluar cukup dinonaktifkan; riwayatnya tetap utuh.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data: instruksi audit troli emergensi ke tiga instalasi. IGD sudah Selesai, Rawat Inap menunggu verifikasi, IBS masih berjalan — semuanya terlihat dari satu halaman.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Contoh: perbaikan AC rawat inap. PIC melapor hambatan kompresor rusak dan meminta keputusan pembelian Rp 18,5 juta. Permintaan itu muncul di Beranda Direktur (Menunggu keputusan Anda); Direktur menulis arahan di kartu kuning tanpa harus menelepon.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di data demo: stock opname obat high alert terlambat 6 hari dan belum diterima PIC — eskalasi sudah terkirim ke Kepala Instalasi Farmasi tanpa ada yang menagih.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Halaman pertama Direktur setelah login, disusun dari yang paling mendesak. Rutinitas pagi: selesaikan bagian 1, lalu tekan Minta kabar pada tugas yang terlambat di bagian 2. Staf melihat Beranda berbeda: Perlu Anda kerjakan dan Tugas saya.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staf IGD: tugas Rekap kunjungan dari Kepala IGD. Di HP, tombol aksi tampil paling atas. Menu yang tidak dipakai staf (surat, laporan, organisasi) disembunyikan; hak akses tetap diperiksa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 dibaca dari data tugas yang sama dengan Beranda, mengikuti periode dan hak akses. Arahkan kursor ke batang untuk angka; tabel lengkap ada di bawah grafik.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Direktur tidak perlu mengunduh lalu membuka berkas satu per satu. Untuk dokumen Word/Excel, sarankan unit mengunggah versi PDF agar bisa langsung dibaca.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Bagian ini untuk peserta yang ingin memahami alur sendiri. Semua akun demo memakai kata sandi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Mulai dari Auditor karena sistem menolak semua perubahan dari akun itu, jadi aman untuk diklik. Lalu Direktur sebagai pemberi perintah, sekretaris sebagai pencatat, dan Kabid sebagai penerus disposisi.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Lanjutkan ke pelaksana dan pemeriksa. Catatan: membuka disposisi atau tugas instruksi sebagai penerimanya mencatat status Dibaca; menekan Buka di notifikasi menandainya dibaca. Selama tidak menekan tombol aksi, data tidak berubah.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Siapkan dua jendela peramban: Direktur dan staf (jendela penyamaran). Sisihkan 5 menit untuk variasi: kembalikan hasil dengan Kembalikan untuk perbaikan agar audiens melihat status Perlu perbaikan.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ada 69 akun demo, satu atau lebih di setiap unit. Semua berawalan demo_ dan dapat dinonaktifkan sekaligus oleh administrator sistem.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usulan untuk didiskusikan, bukan keputusan. Langkah pertama yang paling menentukan adalah daftar pegawai asli per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4480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4297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0604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I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</a:rPr>
              <a:t>E-Office RSI Yatofa · Panduan penggunaan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I_LEMBU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</a:rPr>
              <a:t>E-Office RSI Yatofa · Panduan penggunaan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slideLayout" Target="../slideLayouts/slideLayout5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E-Office RSI Yatofa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Kendali perintah Direktur: dari surat masuk sampai pekerjaan selesai dan terverifikasi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Panduan penggunaan · Oktober 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937760" y="1188720"/>
            <a:ext cx="3840480" cy="2514600"/>
          </a:xfrm>
          <a:prstGeom prst="rect">
            <a:avLst/>
          </a:prstGeom>
          <a:solidFill>
            <a:schemeClr val="bg1"/>
          </a:solidFill>
          <a:ln w="9525">
            <a:solidFill>
              <a:srgbClr val="C9D7E8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pic>
        <p:nvPicPr>
          <p:cNvPr id="6" name="Image 0" descr="Tangkapan layar Beranda Direkt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188720"/>
            <a:ext cx="384048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Masalah yang diselesaikan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SEBELUM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434840" y="10058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 E-OFFICE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429000" cy="658368"/>
          </a:xfrm>
          <a:prstGeom prst="roundRect">
            <a:avLst>
              <a:gd name="adj" fmla="val 11111"/>
            </a:avLst>
          </a:prstGeom>
          <a:solidFill>
            <a:srgbClr val="F3F5F8"/>
          </a:solidFill>
          <a:ln w="9525">
            <a:solidFill>
              <a:srgbClr val="D3DE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 lisan/WA mudah terlupa, PIC tidak jelas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959352" y="1591056"/>
            <a:ext cx="347472" cy="237744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1371600"/>
            <a:ext cx="429768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4996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0" descr="ik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2841" y="1596177"/>
            <a:ext cx="209215" cy="20921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74920" y="137160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perintah menjadi tugas ber-PIC, bertenggat, dan berkode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2194560"/>
            <a:ext cx="3429000" cy="658368"/>
          </a:xfrm>
          <a:prstGeom prst="roundRect">
            <a:avLst>
              <a:gd name="adj" fmla="val 11111"/>
            </a:avLst>
          </a:prstGeom>
          <a:solidFill>
            <a:srgbClr val="F3F5F8"/>
          </a:solidFill>
          <a:ln w="9525">
            <a:solidFill>
              <a:srgbClr val="D3DE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21945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Direktur menanyakan progres satu per satu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959352" y="2414016"/>
            <a:ext cx="347472" cy="237744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5" name="Shape 12"/>
          <p:cNvSpPr/>
          <p:nvPr/>
        </p:nvSpPr>
        <p:spPr>
          <a:xfrm>
            <a:off x="4389120" y="2194560"/>
            <a:ext cx="429768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26280" y="23225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1" descr="ik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2841" y="2419137"/>
            <a:ext cx="209215" cy="20921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074920" y="219456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yang menunggu dan tugas terlambat langsung tampil di Beranda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57200" y="3017520"/>
            <a:ext cx="3429000" cy="658368"/>
          </a:xfrm>
          <a:prstGeom prst="roundRect">
            <a:avLst>
              <a:gd name="adj" fmla="val 11111"/>
            </a:avLst>
          </a:prstGeom>
          <a:solidFill>
            <a:srgbClr val="F3F5F8"/>
          </a:solidFill>
          <a:ln w="9525">
            <a:solidFill>
              <a:srgbClr val="D3DEE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301752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Keterlambatan baru diketahui saat rapat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3959352" y="3236976"/>
            <a:ext cx="347472" cy="237744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2" name="Shape 18"/>
          <p:cNvSpPr/>
          <p:nvPr/>
        </p:nvSpPr>
        <p:spPr>
          <a:xfrm>
            <a:off x="4389120" y="3017520"/>
            <a:ext cx="429768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26280" y="31455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mage 2" descr="ik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41" y="3242097"/>
            <a:ext cx="209215" cy="209215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074920" y="301752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Pengingat H-2 dan eskalasi ke atasan berjalan otomatis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457200" y="3840480"/>
            <a:ext cx="3429000" cy="658368"/>
          </a:xfrm>
          <a:prstGeom prst="roundRect">
            <a:avLst>
              <a:gd name="adj" fmla="val 11111"/>
            </a:avLst>
          </a:prstGeom>
          <a:solidFill>
            <a:srgbClr val="F3F5F8"/>
          </a:solidFill>
          <a:ln w="9525">
            <a:solidFill>
              <a:srgbClr val="D3DEEB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40080" y="384048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"Sudah selesai" tanpa bukti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3959352" y="4059936"/>
            <a:ext cx="347472" cy="237744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9" name="Shape 24"/>
          <p:cNvSpPr/>
          <p:nvPr/>
        </p:nvSpPr>
        <p:spPr>
          <a:xfrm>
            <a:off x="4389120" y="3840480"/>
            <a:ext cx="429768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4526280" y="396849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mage 3" descr="ik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41" y="4065057"/>
            <a:ext cx="209215" cy="209215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074920" y="384048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wajib diunggah dan diverifikasi pemberi tugas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Empat pintu masuk, satu mesin tugas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66928" y="1106424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ik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3489" y="1202985"/>
            <a:ext cx="209215" cy="20921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042416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masuk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13167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lalu disposisi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417320" y="1627632"/>
            <a:ext cx="0" cy="219456"/>
          </a:xfrm>
          <a:prstGeom prst="line">
            <a:avLst/>
          </a:prstGeom>
          <a:noFill/>
          <a:ln w="15875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587752" y="1005840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697480" y="1106424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Image 1" descr="ik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41" y="1202985"/>
            <a:ext cx="209215" cy="20921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182112" y="1042416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Instruksi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182112" y="13167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Direktur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547872" y="1627632"/>
            <a:ext cx="0" cy="219456"/>
          </a:xfrm>
          <a:prstGeom prst="line">
            <a:avLst/>
          </a:prstGeom>
          <a:noFill/>
          <a:ln w="15875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718304" y="1005840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828032" y="1106424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2" descr="ik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4593" y="1202985"/>
            <a:ext cx="209215" cy="20921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12664" y="1042416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rapat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5312664" y="13167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notulen disetujui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678424" y="1627632"/>
            <a:ext cx="0" cy="219456"/>
          </a:xfrm>
          <a:prstGeom prst="line">
            <a:avLst/>
          </a:prstGeom>
          <a:noFill/>
          <a:ln w="15875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6848856" y="1005840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958584" y="1106424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3" name="Image 3" descr="ik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145" y="1202985"/>
            <a:ext cx="209215" cy="20921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443216" y="1042416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Penugasan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443216" y="13167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langsung atasan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808976" y="1627632"/>
            <a:ext cx="0" cy="219456"/>
          </a:xfrm>
          <a:prstGeom prst="line">
            <a:avLst/>
          </a:prstGeom>
          <a:noFill/>
          <a:ln w="15875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457200" y="187452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40080" y="1874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TUGAS  </a:t>
            </a:r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· tenggat · kriteria selesai · pemeriksa (verifikator)</a:t>
            </a:r>
            <a:endParaRPr lang="en-US" sz="1400" dirty="0"/>
          </a:p>
        </p:txBody>
      </p:sp>
      <p:sp>
        <p:nvSpPr>
          <p:cNvPr id="29" name="Shape 23"/>
          <p:cNvSpPr/>
          <p:nvPr/>
        </p:nvSpPr>
        <p:spPr>
          <a:xfrm>
            <a:off x="457200" y="2560320"/>
            <a:ext cx="1700784" cy="658368"/>
          </a:xfrm>
          <a:prstGeom prst="homePlate">
            <a:avLst/>
          </a:prstGeom>
          <a:solidFill>
            <a:srgbClr val="DCE8F6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566928" y="256032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menerima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2084832" y="2560320"/>
            <a:ext cx="1700784" cy="658368"/>
          </a:xfrm>
          <a:prstGeom prst="chevron">
            <a:avLst/>
          </a:prstGeom>
          <a:solidFill>
            <a:srgbClr val="DCE8F6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2377440" y="256032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Dikerjakan &amp; dilapor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3712464" y="2560320"/>
            <a:ext cx="1700784" cy="658368"/>
          </a:xfrm>
          <a:prstGeom prst="chevron">
            <a:avLst/>
          </a:prstGeom>
          <a:solidFill>
            <a:srgbClr val="DCE8F6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4005072" y="256032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+ bukti dikirim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5340096" y="2560320"/>
            <a:ext cx="1700784" cy="658368"/>
          </a:xfrm>
          <a:prstGeom prst="chevron">
            <a:avLst/>
          </a:prstGeom>
          <a:solidFill>
            <a:schemeClr val="tx2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5632704" y="256032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Diverifikasi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6967728" y="2560320"/>
            <a:ext cx="1700784" cy="658368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260336" y="256032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1325880" y="2350008"/>
            <a:ext cx="0" cy="182880"/>
          </a:xfrm>
          <a:prstGeom prst="line">
            <a:avLst/>
          </a:prstGeom>
          <a:noFill/>
          <a:ln w="15875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40" name="Text 34"/>
          <p:cNvSpPr txBox="1"/>
          <p:nvPr/>
        </p:nvSpPr>
        <p:spPr>
          <a:xfrm>
            <a:off x="457200" y="3310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Ditolak pemeriksa?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menjadi Perlu perbaikan; PIC memperbaiki lalu mengirim ulang.</a:t>
            </a:r>
            <a:endParaRPr lang="en-US" sz="1200" dirty="0"/>
          </a:p>
        </p:txBody>
      </p:sp>
      <p:sp>
        <p:nvSpPr>
          <p:cNvPr id="41" name="Shape 35"/>
          <p:cNvSpPr/>
          <p:nvPr/>
        </p:nvSpPr>
        <p:spPr>
          <a:xfrm>
            <a:off x="457200" y="3749040"/>
            <a:ext cx="4754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9D7E8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594360" y="3922776"/>
            <a:ext cx="420624" cy="42062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3" name="Image 4" descr="ik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10" y="4023726"/>
            <a:ext cx="218724" cy="218724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1143000" y="374904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E-Reminder setiap hari 07.00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Pengingat H-2 · tanda terlambat · eskalasi ke atasan bila terlambat ≥ 3 hari</a:t>
            </a:r>
            <a:endParaRPr lang="en-US" sz="1200" dirty="0"/>
          </a:p>
        </p:txBody>
      </p:sp>
      <p:sp>
        <p:nvSpPr>
          <p:cNvPr id="45" name="Shape 38"/>
          <p:cNvSpPr/>
          <p:nvPr/>
        </p:nvSpPr>
        <p:spPr>
          <a:xfrm>
            <a:off x="5394960" y="3749040"/>
            <a:ext cx="32918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9D7E8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532120" y="392277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7" name="Image 5" descr="ik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3070" y="4023726"/>
            <a:ext cx="218724" cy="218724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6080760" y="37490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Hasilnya terlihat di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 · Laporan · E-Arsip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Delapan status tugas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94360" y="1234440"/>
            <a:ext cx="182880" cy="182880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124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Menunggu penerimaan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65506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Terbit, PIC belum menekan Terima tugas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697480" y="1234440"/>
            <a:ext cx="182880" cy="18288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971800" y="1124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dimulai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165506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Diterima, belum ada laporan progres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00600" y="1234440"/>
            <a:ext cx="182880" cy="182880"/>
          </a:xfrm>
          <a:prstGeom prst="ellipse">
            <a:avLst/>
          </a:prstGeom>
          <a:solidFill>
            <a:srgbClr val="0B6B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74920" y="1124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Berjalan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65506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mengerjakan dan melapor progres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903720" y="1234440"/>
            <a:ext cx="182880" cy="18288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1124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Terhambat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65506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kendala; hambatan wajib ditulis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331720"/>
            <a:ext cx="192024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2514600"/>
            <a:ext cx="182880" cy="1828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240487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Menunggu verifikasi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93522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dan bukti menunggu pemeriksa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60320" y="2331720"/>
            <a:ext cx="192024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697480" y="2514600"/>
            <a:ext cx="182880" cy="18288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971800" y="240487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Perlu perbaikan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697480" y="293522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Dikembalikan pemeriksa dengan alasan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2331720"/>
            <a:ext cx="192024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00600" y="2514600"/>
            <a:ext cx="182880" cy="18288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74920" y="240487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800600" y="293522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Disetujui pemeriksa (final)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766560" y="2331720"/>
            <a:ext cx="192024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03720" y="2514600"/>
            <a:ext cx="182880" cy="182880"/>
          </a:xfrm>
          <a:prstGeom prst="ellipse">
            <a:avLst/>
          </a:prstGeom>
          <a:solidFill>
            <a:srgbClr val="33415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178040" y="240487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Dibatalkan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293522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Dibatalkan dengan alasan (final)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703320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DECEC"/>
          </a:solidFill>
          <a:ln w="9525">
            <a:solidFill>
              <a:srgbClr val="F3C2C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" y="388620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7" name="Image 0" descr="ik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995928"/>
            <a:ext cx="237744" cy="237744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1188720" y="37033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Terlambat bukan 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Penanda: tenggat lewat, tugas belum Selesai/Dibatalkan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663440" y="3703320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E8F5EC"/>
          </a:solidFill>
          <a:ln w="9525">
            <a:solidFill>
              <a:srgbClr val="BFE0C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00600" y="3886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1" name="Image 1" descr="ik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3995928"/>
            <a:ext cx="237744" cy="237744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394960" y="37033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belum tentu selesai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 hanya setelah pemeriksa menyetujui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Dua belas modul dalam satu aplikasi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1920240" cy="1024128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85216" y="11521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ik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777" y="1248705"/>
            <a:ext cx="209215" cy="20921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60704" y="115214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E-Surat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85216" y="160934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masuk &amp; keluar, nomor otomatis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560320" y="1024128"/>
            <a:ext cx="1920240" cy="1024128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688336" y="11521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ik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897" y="1248705"/>
            <a:ext cx="209215" cy="20921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63824" y="115214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E-Disposisi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688336" y="160934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Arahan surat, bisa diteruskan berjenjang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1024128"/>
            <a:ext cx="1920240" cy="1024128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791456" y="11521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ik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017" y="1248705"/>
            <a:ext cx="209215" cy="20921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266944" y="115214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E-Instruksi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791456" y="160934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 resmi berkode, status baca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766560" y="1024128"/>
            <a:ext cx="1920240" cy="1024128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894576" y="11521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ik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1137" y="1248705"/>
            <a:ext cx="209215" cy="20921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70064" y="115214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E-Task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6894576" y="160934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PIC, tenggat, bukti, verifikasi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2212848"/>
            <a:ext cx="1920240" cy="1024128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585216" y="23408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mage 4" descr="ik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777" y="2437425"/>
            <a:ext cx="209215" cy="20921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60704" y="234086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E-Monitoring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585216" y="27980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Progres, hambatan, kendali tugas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2560320" y="2212848"/>
            <a:ext cx="1920240" cy="1024128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2688336" y="23408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5" descr="ik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84897" y="2437425"/>
            <a:ext cx="209215" cy="20921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163824" y="234086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E-Reminder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2688336" y="27980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Pengingat H-2 &amp; eskalasi otomatis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4663440" y="2212848"/>
            <a:ext cx="1920240" cy="1024128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791456" y="23408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mage 6" descr="ik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8017" y="2437425"/>
            <a:ext cx="209215" cy="209215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266944" y="234086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E-Agenda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4791456" y="27980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Rapat, kegiatan, kalender Direktur</a:t>
            </a:r>
            <a:endParaRPr lang="en-US" sz="1100" dirty="0"/>
          </a:p>
        </p:txBody>
      </p:sp>
      <p:sp>
        <p:nvSpPr>
          <p:cNvPr id="38" name="Shape 29"/>
          <p:cNvSpPr/>
          <p:nvPr/>
        </p:nvSpPr>
        <p:spPr>
          <a:xfrm>
            <a:off x="6766560" y="2212848"/>
            <a:ext cx="1920240" cy="1024128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6894576" y="23408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0" name="Image 7" descr="ik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1137" y="2437425"/>
            <a:ext cx="209215" cy="209215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7370064" y="234086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E-Notulen</a:t>
            </a:r>
            <a:endParaRPr lang="en-US" sz="1300" dirty="0"/>
          </a:p>
        </p:txBody>
      </p:sp>
      <p:sp>
        <p:nvSpPr>
          <p:cNvPr id="42" name="Text 32"/>
          <p:cNvSpPr txBox="1"/>
          <p:nvPr/>
        </p:nvSpPr>
        <p:spPr>
          <a:xfrm>
            <a:off x="6894576" y="27980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rapat &amp; butir keputusan</a:t>
            </a:r>
            <a:endParaRPr lang="en-US" sz="1100" dirty="0"/>
          </a:p>
        </p:txBody>
      </p:sp>
      <p:sp>
        <p:nvSpPr>
          <p:cNvPr id="43" name="Shape 33"/>
          <p:cNvSpPr/>
          <p:nvPr/>
        </p:nvSpPr>
        <p:spPr>
          <a:xfrm>
            <a:off x="457200" y="3401568"/>
            <a:ext cx="1920240" cy="1024128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44" name="Shape 34"/>
          <p:cNvSpPr/>
          <p:nvPr/>
        </p:nvSpPr>
        <p:spPr>
          <a:xfrm>
            <a:off x="585216" y="35295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5" name="Image 8" descr="ik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777" y="3626145"/>
            <a:ext cx="209215" cy="209215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1060704" y="35295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E-Follow Up</a:t>
            </a:r>
            <a:endParaRPr lang="en-US" sz="1300" dirty="0"/>
          </a:p>
        </p:txBody>
      </p:sp>
      <p:sp>
        <p:nvSpPr>
          <p:cNvPr id="47" name="Text 36"/>
          <p:cNvSpPr txBox="1"/>
          <p:nvPr/>
        </p:nvSpPr>
        <p:spPr>
          <a:xfrm>
            <a:off x="585216" y="398678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Tindak lanjut keputusan rapat</a:t>
            </a:r>
            <a:endParaRPr lang="en-US" sz="1100" dirty="0"/>
          </a:p>
        </p:txBody>
      </p:sp>
      <p:sp>
        <p:nvSpPr>
          <p:cNvPr id="48" name="Shape 37"/>
          <p:cNvSpPr/>
          <p:nvPr/>
        </p:nvSpPr>
        <p:spPr>
          <a:xfrm>
            <a:off x="2560320" y="3401568"/>
            <a:ext cx="1920240" cy="1024128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49" name="Shape 38"/>
          <p:cNvSpPr/>
          <p:nvPr/>
        </p:nvSpPr>
        <p:spPr>
          <a:xfrm>
            <a:off x="2688336" y="35295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0" name="Image 9" descr="ik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84897" y="3626145"/>
            <a:ext cx="209215" cy="209215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3163824" y="35295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E-Arsip</a:t>
            </a:r>
            <a:endParaRPr lang="en-US" sz="1300" dirty="0"/>
          </a:p>
        </p:txBody>
      </p:sp>
      <p:sp>
        <p:nvSpPr>
          <p:cNvPr id="52" name="Text 40"/>
          <p:cNvSpPr txBox="1"/>
          <p:nvPr/>
        </p:nvSpPr>
        <p:spPr>
          <a:xfrm>
            <a:off x="2688336" y="398678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&amp; bukti, retensi 5 tahun</a:t>
            </a:r>
            <a:endParaRPr lang="en-US" sz="1100" dirty="0"/>
          </a:p>
        </p:txBody>
      </p:sp>
      <p:sp>
        <p:nvSpPr>
          <p:cNvPr id="53" name="Shape 41"/>
          <p:cNvSpPr/>
          <p:nvPr/>
        </p:nvSpPr>
        <p:spPr>
          <a:xfrm>
            <a:off x="4663440" y="3401568"/>
            <a:ext cx="1920240" cy="1024128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54" name="Shape 42"/>
          <p:cNvSpPr/>
          <p:nvPr/>
        </p:nvSpPr>
        <p:spPr>
          <a:xfrm>
            <a:off x="4791456" y="35295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5" name="Image 10" descr="ik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88017" y="3626145"/>
            <a:ext cx="209215" cy="209215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5266944" y="35295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E-Reporting</a:t>
            </a:r>
            <a:endParaRPr lang="en-US" sz="1300" dirty="0"/>
          </a:p>
        </p:txBody>
      </p:sp>
      <p:sp>
        <p:nvSpPr>
          <p:cNvPr id="57" name="Text 44"/>
          <p:cNvSpPr txBox="1"/>
          <p:nvPr/>
        </p:nvSpPr>
        <p:spPr>
          <a:xfrm>
            <a:off x="4791456" y="398678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unit, ekspor Excel/PDF</a:t>
            </a:r>
            <a:endParaRPr lang="en-US" sz="1100" dirty="0"/>
          </a:p>
        </p:txBody>
      </p:sp>
      <p:sp>
        <p:nvSpPr>
          <p:cNvPr id="58" name="Shape 45"/>
          <p:cNvSpPr/>
          <p:nvPr/>
        </p:nvSpPr>
        <p:spPr>
          <a:xfrm>
            <a:off x="6766560" y="3401568"/>
            <a:ext cx="1920240" cy="1024128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59" name="Shape 46"/>
          <p:cNvSpPr/>
          <p:nvPr/>
        </p:nvSpPr>
        <p:spPr>
          <a:xfrm>
            <a:off x="6894576" y="3529584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0" name="Image 11" descr="ik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91137" y="3626145"/>
            <a:ext cx="209215" cy="209215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7370064" y="35295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1300" dirty="0"/>
          </a:p>
        </p:txBody>
      </p:sp>
      <p:sp>
        <p:nvSpPr>
          <p:cNvPr id="62" name="Text 48"/>
          <p:cNvSpPr txBox="1"/>
          <p:nvPr/>
        </p:nvSpPr>
        <p:spPr>
          <a:xfrm>
            <a:off x="6894576" y="398678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Beranda: keputusan &amp; yang perlu dikejar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Siapa melihat dan mengerjakan apa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611880"/>
                <a:gridCol w="24688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Tugas utama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yang terlihat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Direktur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Instruksi, disposisi, tugas langsung; verifikasi tugas yang ia beri; pantau seluruh 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Semua data, termasuk Rahasia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Wakil Direktur / Kepala Bidang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Teruskan disposisi, instruksi bidang, verifikasi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Bidang dan seluruh sub-unitnya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Kepala Unit / Instalasi / Seksi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Bagi tugas ke staf, verifikasi, terima eskalasi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sendiri dan sub-unitnya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 / PIC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Terima tugas, lapor progres, unggah bukti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Tugas miliknya sendiri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Sekretaris Direktur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Catat surat, instruksi atas nama, agenda, notulen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Surat &amp; disposisi non-Rahasia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Petugas Arsip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Catat surat, kelola E-Arsip, usulkan musnah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Surat &amp; arsip non-Rahasia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 (SPI)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Periksa data dan audit trail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Semua non-Rahasia, hanya-baca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Struktur Organisasi, Pengguna, Pengaturan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operasional bila terlibat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Alur tugas: siapa memberi, siapa memantau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434340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9525">
            <a:solidFill>
              <a:srgbClr val="0B6BC4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66928" y="1078992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ik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3489" y="1175553"/>
            <a:ext cx="209215" cy="20921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0241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Direktur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128930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Instruksi, disposisi, tugas langsung; pantau seluruh RS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68096" y="1591056"/>
            <a:ext cx="0" cy="265176"/>
          </a:xfrm>
          <a:prstGeom prst="line">
            <a:avLst/>
          </a:prstGeom>
          <a:noFill/>
          <a:ln w="15875">
            <a:solidFill>
              <a:srgbClr val="0B6BC4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914400" y="1591056"/>
            <a:ext cx="3657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instruksi · disposisi · tugas langsung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1874520"/>
            <a:ext cx="434340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66928" y="19659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ik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9" y="2062521"/>
            <a:ext cx="209215" cy="20921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78992" y="191109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Wakil Direktur / Manajer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078992" y="217627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Meneruskan disposisi, membagi tugas ke unit bidangnya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68096" y="2478024"/>
            <a:ext cx="0" cy="265176"/>
          </a:xfrm>
          <a:prstGeom prst="line">
            <a:avLst/>
          </a:prstGeom>
          <a:noFill/>
          <a:ln w="15875">
            <a:solidFill>
              <a:srgbClr val="0B6BC4"/>
            </a:solidFill>
            <a:prstDash val="solid"/>
            <a:tailEnd type="triangle"/>
          </a:ln>
        </p:spPr>
      </p:sp>
      <p:sp>
        <p:nvSpPr>
          <p:cNvPr id="16" name="Text 12"/>
          <p:cNvSpPr txBox="1"/>
          <p:nvPr/>
        </p:nvSpPr>
        <p:spPr>
          <a:xfrm>
            <a:off x="914400" y="2478024"/>
            <a:ext cx="3657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terusan disposisi · tugas langsung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57200" y="2761488"/>
            <a:ext cx="434340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66928" y="285292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mage 2" descr="ik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89" y="2949489"/>
            <a:ext cx="209215" cy="20921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78992" y="27980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Kepala Unit / Instalasi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1078992" y="30632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Membagi tugas ke staf, memeriksa hasil staf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768096" y="3364992"/>
            <a:ext cx="0" cy="265176"/>
          </a:xfrm>
          <a:prstGeom prst="line">
            <a:avLst/>
          </a:prstGeom>
          <a:noFill/>
          <a:ln w="15875">
            <a:solidFill>
              <a:srgbClr val="0B6BC4"/>
            </a:solidFill>
            <a:prstDash val="solid"/>
            <a:tailEnd type="triangle"/>
          </a:ln>
        </p:spPr>
      </p:sp>
      <p:sp>
        <p:nvSpPr>
          <p:cNvPr id="23" name="Text 18"/>
          <p:cNvSpPr txBox="1"/>
          <p:nvPr/>
        </p:nvSpPr>
        <p:spPr>
          <a:xfrm>
            <a:off x="914400" y="3364992"/>
            <a:ext cx="3657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tugas langsung · terusan disposisi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57200" y="3648456"/>
            <a:ext cx="434340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66928" y="3739896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6" name="Image 3" descr="ik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489" y="3836457"/>
            <a:ext cx="209215" cy="20921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78992" y="36850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 / PIC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1078992" y="395020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Menerima, mengerjakan, melapor, mengirim hasil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5029200" y="987552"/>
            <a:ext cx="365760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9525">
            <a:solidFill>
              <a:srgbClr val="C9D7E8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157216" y="111556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1" name="Image 4" descr="ik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3777" y="1212129"/>
            <a:ext cx="209215" cy="20921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669280" y="10607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naik ke pemberi tugas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5669280" y="135331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Progres, hambatan, bukti, dan hasil kembali ke pemberi tugas, yang sekaligus memeriksa dan menutup.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5029200" y="2148840"/>
            <a:ext cx="365760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9525">
            <a:solidFill>
              <a:srgbClr val="C9D7E8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5157216" y="2276856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6" name="Image 5" descr="ik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3777" y="2373417"/>
            <a:ext cx="209215" cy="20921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5669280" y="22219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Direktur melihat semuanya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5669280" y="251460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Termasuk tugas dari Kepala Unit ke stafnya: di Beranda (Perlu dikejar), menu Tugas, dan Laporan.</a:t>
            </a:r>
            <a:endParaRPr lang="en-US" sz="1050" dirty="0"/>
          </a:p>
        </p:txBody>
      </p:sp>
      <p:sp>
        <p:nvSpPr>
          <p:cNvPr id="39" name="Shape 31"/>
          <p:cNvSpPr/>
          <p:nvPr/>
        </p:nvSpPr>
        <p:spPr>
          <a:xfrm>
            <a:off x="5029200" y="3310128"/>
            <a:ext cx="365760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9525">
            <a:solidFill>
              <a:srgbClr val="C9D7E8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5157216" y="3438144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1" name="Image 6" descr="ik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53777" y="3534705"/>
            <a:ext cx="209215" cy="209215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5669280" y="33832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Eskalasi ke atasan langsung</a:t>
            </a:r>
            <a:endParaRPr lang="en-US" sz="1250" dirty="0"/>
          </a:p>
        </p:txBody>
      </p:sp>
      <p:sp>
        <p:nvSpPr>
          <p:cNvPr id="43" name="Text 34"/>
          <p:cNvSpPr txBox="1"/>
          <p:nvPr/>
        </p:nvSpPr>
        <p:spPr>
          <a:xfrm>
            <a:off x="5669280" y="367588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Terlambat ≥ 3 hari: atasan langsung PIC diberi tahu. Direktur tidak dinotifikasi tiap tugas baru.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Struktur Organisasi: dasar akses dan eskalasi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26283" cy="3520440"/>
          </a:xfrm>
          <a:prstGeom prst="rect">
            <a:avLst/>
          </a:prstGeom>
          <a:solidFill>
            <a:schemeClr val="bg1"/>
          </a:solidFill>
          <a:ln w="9525">
            <a:solidFill>
              <a:srgbClr val="C9D7E8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pic>
        <p:nvPicPr>
          <p:cNvPr id="4" name="Image 0" descr="Pohon Struktur Organisasi RSI Yatof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126283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57800" y="106984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1" descr="ik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8" y="1179576"/>
            <a:ext cx="237744" cy="23774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852160" y="102412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Garis komando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852160" y="137160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Direktur → 3 Kepala Bidang → seksi → instalasi/sub-unit. Menentukan siapa melihat apa dan ke mana eskalasi dikirim.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257800" y="22402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2" descr="ik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7528" y="235000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852160" y="219456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Pengawasan &amp; komite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5852160" y="2542032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SPI, 9 komite, dan Casemix bukan bawahan bidang; tercatat sebagai koordinasi/pengawasan ke Direktur.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5257800" y="341071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3" descr="ik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528" y="3520440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852160" y="336499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dari salah ubah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5852160" y="3712464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tidak pernah dihapus, hanya dinonaktifkan dengan alasan; induk yang melingkar ditolak.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Input pegawai langsung di bidangnya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101498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ikon tambah pengguna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3075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unit di pohon Struktur Organisasi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188366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nama, login, kata sandi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1762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centang Kepala bila ia pimpinan unit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7523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Jabatan, peran, atasan otomatis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30449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terisi dari struktur; tetap bisa diubah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36210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Simpan &amp; tambah lagi di unit ini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913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staf berikutnya di unit yang sama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206240" y="1005840"/>
            <a:ext cx="4480560" cy="2233525"/>
          </a:xfrm>
          <a:prstGeom prst="rect">
            <a:avLst/>
          </a:prstGeom>
          <a:solidFill>
            <a:schemeClr val="bg1"/>
          </a:solidFill>
          <a:ln w="9525">
            <a:solidFill>
              <a:srgbClr val="C9D7E8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pic>
        <p:nvPicPr>
          <p:cNvPr id="20" name="Image 0" descr="Form tambah pengguna dengan isian otomati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005840"/>
            <a:ext cx="4480560" cy="223352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Instruksi: satu perintah, banyak penerima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59667" cy="3520440"/>
          </a:xfrm>
          <a:prstGeom prst="rect">
            <a:avLst/>
          </a:prstGeom>
          <a:solidFill>
            <a:schemeClr val="bg1"/>
          </a:solidFill>
          <a:ln w="9525">
            <a:solidFill>
              <a:srgbClr val="C9D7E8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pic>
        <p:nvPicPr>
          <p:cNvPr id="4" name="Image 0" descr="Halaman instruksi dengan penerima dan tugas yang dihasilk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259667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0" y="1051560"/>
            <a:ext cx="2194560" cy="155448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279392" y="1216152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1" descr="ik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4731" y="1321491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279392" y="174650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otomatis</a:t>
            </a:r>
            <a:endParaRPr lang="en-US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4279392" y="2057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INS/2026/0001; isi terkunci setelah terbit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446520" y="1051560"/>
            <a:ext cx="2194560" cy="155448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611112" y="1216152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ik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451" y="1321491"/>
            <a:ext cx="228234" cy="22823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611112" y="174650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Tugas per penerima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6611112" y="2057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instalasi, tiga tugas, tiga status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114800" y="2788920"/>
            <a:ext cx="2194560" cy="155448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279392" y="2953512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3" descr="ik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4731" y="3058851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279392" y="348386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baca</a:t>
            </a:r>
            <a:endParaRPr lang="en-US" sz="1350" dirty="0"/>
          </a:p>
        </p:txBody>
      </p:sp>
      <p:sp>
        <p:nvSpPr>
          <p:cNvPr id="19" name="Text 13"/>
          <p:cNvSpPr txBox="1"/>
          <p:nvPr/>
        </p:nvSpPr>
        <p:spPr>
          <a:xfrm>
            <a:off x="4279392" y="37947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Kolom Dibaca terisi saat PIC membuka tugasnya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446520" y="2788920"/>
            <a:ext cx="2194560" cy="155448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611112" y="2953512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mage 4" descr="ik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6451" y="3058851"/>
            <a:ext cx="228234" cy="22823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611112" y="348386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 beralasan</a:t>
            </a:r>
            <a:endParaRPr lang="en-US" sz="1350" dirty="0"/>
          </a:p>
        </p:txBody>
      </p:sp>
      <p:sp>
        <p:nvSpPr>
          <p:cNvPr id="24" name="Text 17"/>
          <p:cNvSpPr txBox="1"/>
          <p:nvPr/>
        </p:nvSpPr>
        <p:spPr>
          <a:xfrm>
            <a:off x="6611112" y="37947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Pembatalan ikut membatalkan tugas yang belum selesai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Staf minta keputusan, pimpinan Beri arahan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394960" cy="3211286"/>
          </a:xfrm>
          <a:prstGeom prst="rect">
            <a:avLst/>
          </a:prstGeom>
          <a:solidFill>
            <a:schemeClr val="bg1"/>
          </a:solidFill>
          <a:ln w="9525">
            <a:solidFill>
              <a:srgbClr val="C9D7E8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pic>
        <p:nvPicPr>
          <p:cNvPr id="4" name="Image 0" descr="Detail tugas dengan garis langkah, pemberi tugas, dan kartu Beri arah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394960" cy="321128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1088136"/>
            <a:ext cx="182880" cy="182880"/>
          </a:xfrm>
          <a:prstGeom prst="ellipse">
            <a:avLst/>
          </a:prstGeom>
          <a:solidFill>
            <a:srgbClr val="0B397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0" y="1024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Jelas dari siapa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3167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Pemberi tugas, jabatan, dan tanggal tertulis di bawah judul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126480" y="1975104"/>
            <a:ext cx="182880" cy="182880"/>
          </a:xfrm>
          <a:prstGeom prst="ellipse">
            <a:avLst/>
          </a:prstGeom>
          <a:solidFill>
            <a:srgbClr val="0B6BC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0" y="19110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Garis langkah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220370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langkah + kalimat Yang perlu dilakukan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26480" y="2862072"/>
            <a:ext cx="182880" cy="18288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0" y="279806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 arahan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3090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menulis keputusan yang ditunggu; pimpinan menjawab, PIC dinotifikasi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126480" y="3749040"/>
            <a:ext cx="182880" cy="18288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00800" y="36850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977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Arahan, perubahan PIC/tenggat, pembatalan: semua tercatat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Pengingat dan eskalasi berjalan sendiri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07.00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hari sistem memeriksa semua tenggat. Tidak ada pengingat ganda; berhenti saat tugas selesai.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11880" y="1828800"/>
            <a:ext cx="4526280" cy="0"/>
          </a:xfrm>
          <a:prstGeom prst="line">
            <a:avLst/>
          </a:prstGeom>
          <a:noFill/>
          <a:ln w="25400">
            <a:solidFill>
              <a:srgbClr val="9FB3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0712" y="1627632"/>
            <a:ext cx="402336" cy="402336"/>
          </a:xfrm>
          <a:prstGeom prst="ellipse">
            <a:avLst/>
          </a:prstGeom>
          <a:solidFill>
            <a:srgbClr val="0B6BC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10972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6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21488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Pengingat ke PIC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919472" y="1627632"/>
            <a:ext cx="402336" cy="402336"/>
          </a:xfrm>
          <a:prstGeom prst="ellipse">
            <a:avLst/>
          </a:prstGeom>
          <a:solidFill>
            <a:srgbClr val="0B397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0972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1488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Tenggat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28232" y="1627632"/>
            <a:ext cx="402336" cy="402336"/>
          </a:xfrm>
          <a:prstGeom prst="ellipse">
            <a:avLst/>
          </a:prstGeom>
          <a:solidFill>
            <a:srgbClr val="B4530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80760" y="10972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H+1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488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terlambat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36992" y="1627632"/>
            <a:ext cx="402336" cy="402336"/>
          </a:xfrm>
          <a:prstGeom prst="ellipse">
            <a:avLst/>
          </a:prstGeom>
          <a:solidFill>
            <a:srgbClr val="B91C1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0" y="10972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H+3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543800" y="21488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Eskalasi ke atasan langsung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108960" y="3063240"/>
            <a:ext cx="55778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91840" y="32461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Image 0" descr="ik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1568" y="3355848"/>
            <a:ext cx="237744" cy="23774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3886200" y="315468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mana eskalasi dikirim?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atasan langsung PIC (diisi otomatis dari Struktur Organisasi); bila kosong, ke kepala unit. Agenda rapat juga diingatkan H-1 dan hari-H.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Beranda Direktur: keputusan dulu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376672" cy="3520440"/>
          </a:xfrm>
          <a:prstGeom prst="rect">
            <a:avLst/>
          </a:prstGeom>
          <a:solidFill>
            <a:schemeClr val="bg1"/>
          </a:solidFill>
          <a:ln w="9525">
            <a:solidFill>
              <a:srgbClr val="C9D7E8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pic>
        <p:nvPicPr>
          <p:cNvPr id="4" name="Image 0" descr="Beranda Direktur: Menunggu keputusan Anda dan Perlu dikej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376672" cy="3520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766560" y="10241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Keputusan Anda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31673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 arahan, periksa hasil, disposisikan surat: satu tombol per butir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91109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Perlu dikejar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2203704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Terlambat berapa hari, siapa PIC-nya; tombol Minta kabar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766560" y="27980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Kondisi RS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09067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Kinerja unit dan tren, dilipat; grafik lengkap di Laporan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368503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Kolom kanan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3977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hari ini, angka Bulan ini, Ringkasan tugas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Staf: tahu dari siapa dan harus apa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669280" cy="3149600"/>
          </a:xfrm>
          <a:prstGeom prst="rect">
            <a:avLst/>
          </a:prstGeom>
          <a:solidFill>
            <a:schemeClr val="bg1"/>
          </a:solidFill>
          <a:ln w="9525">
            <a:solidFill>
              <a:srgbClr val="C9D7E8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pic>
        <p:nvPicPr>
          <p:cNvPr id="4" name="Image 0" descr="Detail tugas staf: pemberi tugas, garis langkah, aksi bernom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669280" cy="3149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1024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siapa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13167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dr. Eko Saputra · Kepala IGD · tanggal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9110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perlu dilakukan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220370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kalimat petunjuk sesuai status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279806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 bernomor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090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Laporkan progres · 2 Unggah bukti · 3 Kirim hasil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36850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ringkas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3977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 hanya melihat 6 menu yang ia pakai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Laporan bergrafik, tanpa rekap manual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604931" cy="3520440"/>
          </a:xfrm>
          <a:prstGeom prst="rect">
            <a:avLst/>
          </a:prstGeom>
          <a:solidFill>
            <a:schemeClr val="bg1"/>
          </a:solidFill>
          <a:ln w="9525">
            <a:solidFill>
              <a:srgbClr val="C9D7E8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pic>
        <p:nvPicPr>
          <p:cNvPr id="4" name="Image 0" descr="Laporan: 4 angka utama dan grafik kondisi pekerjaan per un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604931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03520" y="106070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1" descr="ik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470" y="1161654"/>
            <a:ext cx="218724" cy="2187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870448" y="10241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angka utama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5870448" y="131673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Tepat waktu, tingkat selesai, terlambat, rata-rata hari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303520" y="19476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2" descr="ik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4470" y="2048622"/>
            <a:ext cx="218724" cy="21872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870448" y="191109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Kondisi per unit</a:t>
            </a:r>
            <a:endParaRPr lang="en-US" sz="1350" dirty="0"/>
          </a:p>
        </p:txBody>
      </p:sp>
      <p:sp>
        <p:nvSpPr>
          <p:cNvPr id="12" name="Text 7"/>
          <p:cNvSpPr txBox="1"/>
          <p:nvPr/>
        </p:nvSpPr>
        <p:spPr>
          <a:xfrm>
            <a:off x="5870448" y="220370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Hijau tepat waktu · biru berjalan · kuning selesai terlambat · merah terlambat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5303520" y="28346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3" descr="ik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470" y="2935590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870448" y="27980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 mingguan</a:t>
            </a:r>
            <a:endParaRPr lang="en-US" sz="1350" dirty="0"/>
          </a:p>
        </p:txBody>
      </p:sp>
      <p:sp>
        <p:nvSpPr>
          <p:cNvPr id="16" name="Text 10"/>
          <p:cNvSpPr txBox="1"/>
          <p:nvPr/>
        </p:nvSpPr>
        <p:spPr>
          <a:xfrm>
            <a:off x="5870448" y="30906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Tugas baru vs selesai: bila oranye di bawah biru, pekerjaan menumpuk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5303520" y="372160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4" descr="ik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4470" y="3822558"/>
            <a:ext cx="218724" cy="21872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870448" y="368503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Ekspor</a:t>
            </a:r>
            <a:endParaRPr lang="en-US" sz="1350" dirty="0"/>
          </a:p>
        </p:txBody>
      </p:sp>
      <p:sp>
        <p:nvSpPr>
          <p:cNvPr id="20" name="Text 13"/>
          <p:cNvSpPr txBox="1"/>
          <p:nvPr/>
        </p:nvSpPr>
        <p:spPr>
          <a:xfrm>
            <a:off x="5870448" y="3977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Excel, cetak/PDF, atau simpan ke E-Arsip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Surat dan bukti dilihat tanpa mengunduh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544693" cy="3520440"/>
          </a:xfrm>
          <a:prstGeom prst="rect">
            <a:avLst/>
          </a:prstGeom>
          <a:solidFill>
            <a:schemeClr val="bg1"/>
          </a:solidFill>
          <a:ln w="9525">
            <a:solidFill>
              <a:srgbClr val="C9D7E8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pic>
        <p:nvPicPr>
          <p:cNvPr id="4" name="Image 0" descr="Surat masuk tampil langsung di sebelah formulir disposi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544693" cy="3520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1024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lalu disposisikan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13167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surat tampil di halaman, formulir disposisi di sebelahnya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9110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Tombol Lihat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220370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dan foto (JPG/PNG) dibuka di browser: bukti, lampiran, arsip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279806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Tetap aman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090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 akses diperiksa; setiap kali dilihat tercatat di audit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36850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Word/Excel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3977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Tetap diunduh (browser tidak bisa menampilkannya)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Rute memahami alur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060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Login satu per satu dengan akun demo, cukup membaca. Mulai dari Auditor yang dijamin hanya-baca, lalu ikuti satu cerita dari Direktur sampai staf.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Rute belajar (1/2): login berurutan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188720"/>
            <a:ext cx="420624" cy="42062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188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1155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 (SPI)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0817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demo_bambang.supriyadi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1024128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 → Ringkasan → Terlambat; buka tugas Perbaikan AC dan audit trail-nya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11096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" y="207568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" y="2075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00253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Direktur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29514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demo_ahmad.fauzi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1911096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Beranda: 4 keputusan menunggu dan 4 tugas terlambat; Laporan bergrafik; surat dibaca tanpa unduh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" y="296265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962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288950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Sekretaris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18211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demo_siti.nurhaliza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840480" y="2798064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Pencatatan surat, instruksi atas nama Direktur, kalender agenda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85032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1792" y="384962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792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37764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Kabid Pelayanan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40690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demo_budi.santoso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840480" y="3685032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Rantai disposisi Direktur → Kabid → Manager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Rute belajar (2/2): login berurutan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1887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188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1155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Kepala IGD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0817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demo_eko.saputra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1024128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Tugas selesai lengkap dengan bukti dan verifikasi; penugasan ke staf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11096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" y="207568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" y="2075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00253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 IGD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29514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demo_fajar.nugroho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1911096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tugas miliknya; Ns. Lina sebagai kolaborator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" y="296265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962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288950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Kabid Keuangan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18211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demo_hendro.kusumo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840480" y="2798064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Notulen menunggu persetujuannya; hasil yang dikembalikan untuk perbaikan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85032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 w="9525">
            <a:solidFill>
              <a:srgbClr val="D3DEEB"/>
            </a:solidFill>
            <a:prstDash val="solid"/>
          </a:ln>
          <a:effectLst>
            <a:outerShdw sx="100000" sy="100000" kx="0" ky="0" algn="bl" rotWithShape="0" blurRad="76200" dist="25400" dir="5400000">
              <a:srgbClr val="0B3976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1792" y="384962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792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37764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Arsip &amp; Admin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40690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demo_rahayu.ningsih · demo_dimas.aditya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840480" y="3685032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E-Arsip dan retensi; menu Pengguna per bidang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Skenario demo langsung (10–15 menit)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051560"/>
                <a:gridCol w="4023360"/>
                <a:gridCol w="27432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 dilakukan di layar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Pesan untuk audiens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Tunjukkan pohon Struktur Organisasi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Struktur menjadi dasar akses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Direktur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Buat instruksi audit troli, tenggat 3 hari → Simpan draf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Perintah tercatat resmi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Direktur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Tambah penerima → Terbitkan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 tugas per penerima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Buka notifikasi → Terima tugas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Direktur tahu sudah dibaca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Laporkan progres 50% + isi Keputusan yang dibutuhkan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Muncul di Beranda Direktur → Beri arahan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Unggah bukti → Kirim untuk verifikasi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Tidak ada 'sudah' tanpa bukti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Direktur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Periksa bukti → Setujui &amp; tutup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Pemberi perintah yang menutup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Direktur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Beranda → Ringkasan tugas → klik Selesai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Setiap angka bisa ditelusuri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Direktur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Laporan → lihat grafik per unit → Excel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Laporan tanpa rekap manual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Akun demo untuk latihan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438912"/>
          </a:xfrm>
          <a:prstGeom prst="roundRect">
            <a:avLst>
              <a:gd name="adj" fmla="val 16667"/>
            </a:avLst>
          </a:prstGeom>
          <a:solidFill>
            <a:srgbClr val="FFF7E6"/>
          </a:solidFill>
          <a:ln w="9525">
            <a:solidFill>
              <a:srgbClr val="F2D49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98755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 sandi semua akun: </a:t>
            </a:r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RSIYatofa-Demo2026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Nama pegawai fiktif; ganti sandi sebelum dibagikan luas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108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Direktur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demo_ahmad.fauzi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dr. H. Ahmad Fauzi, M.Kes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Sekretaris Direktur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demo_siti.nurhaliza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Siti Nurhaliza, A.Md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Kabid Pelayanan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demo_budi.santoso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dr. Budi Santoso, MM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Kabid Keuangan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demo_hendro.kusumo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Hendro Kusumo, SE, 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Kepala IGD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demo_eko.saputra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dr. Eko Saputra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 IGD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demo_fajar.nugroho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Ns. Fajar Nugroho, S.Kep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Kepala Farmasi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demo_dian.purnamasari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apt. Dian Purnamasari, S.Farm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Petugas Arsip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demo_rahayu.ningsih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Rahayu Ningsih, A.Md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 (Kepala SPI)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demo_bambang.supriyadi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Drs. Bambang Supriyadi, Ak.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demo_dimas.aditya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Dimas Aditya, S.Kom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Usulan langkah berikutnya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060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Untuk didiskusikan bersama Direktur dan pimpinan bidang.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962656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pegawai asli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diimpor ke unit masing-masing, menggantikan akun demo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3017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634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257800" y="2962656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coba unit percontohan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mis. Bidang Pelayanan, sebelum seluruh 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831336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Pelatihan per peran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memakai menu Panduan di aplikasi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3886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63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3831336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Ganti kata sandi demo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atau nonaktifkan akun demo sebelum go-live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SI Yatofa Navy">
  <a:themeElements>
    <a:clrScheme name="RSI Yatofa Navy">
      <a:dk1>
        <a:srgbClr val="14213D"/>
      </a:dk1>
      <a:lt1>
        <a:srgbClr val="FFFFFF"/>
      </a:lt1>
      <a:dk2>
        <a:srgbClr val="0B3976"/>
      </a:dk2>
      <a:lt2>
        <a:srgbClr val="EAF2FB"/>
      </a:lt2>
      <a:accent1>
        <a:srgbClr val="0B6BC4"/>
      </a:accent1>
      <a:accent2>
        <a:srgbClr val="15803D"/>
      </a:accent2>
      <a:accent3>
        <a:srgbClr val="B45309"/>
      </a:accent3>
      <a:accent4>
        <a:srgbClr val="B91C1C"/>
      </a:accent4>
      <a:accent5>
        <a:srgbClr val="0E7490"/>
      </a:accent5>
      <a:accent6>
        <a:srgbClr val="6D28D9"/>
      </a:accent6>
      <a:hlink>
        <a:srgbClr val="0B6BC4"/>
      </a:hlink>
      <a:folHlink>
        <a:srgbClr val="6D28D9"/>
      </a:folHlink>
    </a:clrScheme>
    <a:fontScheme name="RSI Yatofa Nav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RSI Yatofa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Panduan Penggunaan E-Office RSI Yatofa</dc:title>
  <dc:subject>PptxGenJS Presentation</dc:subject>
  <dc:creator>Krisna Pranata</dc:creator>
  <cp:lastModifiedBy>Krisna Pranata</cp:lastModifiedBy>
  <cp:revision>1</cp:revision>
  <dcterms:created xsi:type="dcterms:W3CDTF">2026-10-30T09:23:10Z</dcterms:created>
  <dcterms:modified xsi:type="dcterms:W3CDTF">2026-10-30T09:23:10Z</dcterms:modified>
</cp:coreProperties>
</file>